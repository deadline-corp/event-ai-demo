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0"/>
            <a:ext cx="4876495" cy="6858000"/>
          </a:xfrm>
          <a:prstGeom prst="rect">
            <a:avLst/>
          </a:prstGeom>
          <a:solidFill>
            <a:srgbClr val="0A1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7BFF"/>
                </a:solidFill>
                <a:latin typeface="Arial"/>
              </a:rPr>
              <a:t>ИНВЕСТИЦИОННАЯ ПРЕЗЕНТАЦИЯ</a:t>
            </a:r>
          </a:p>
        </p:txBody>
      </p:sp>
      <p:pic>
        <p:nvPicPr>
          <p:cNvPr id="6" name="Picture 5" descr="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4114800" cy="11650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788920"/>
            <a:ext cx="6400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9AA4B6"/>
                </a:solidFill>
                <a:latin typeface="Montserrat"/>
              </a:rPr>
              <a:t>Умный AI-помощник для организации
мероприятий под ключ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977639"/>
            <a:ext cx="5943600" cy="18288"/>
          </a:xfrm>
          <a:prstGeom prst="rect">
            <a:avLst/>
          </a:prstGeom>
          <a:solidFill>
            <a:srgbClr val="22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57A"/>
                </a:solidFill>
                <a:latin typeface="Arial"/>
              </a:rPr>
              <a:t>Алматы  ·  Казахстан  ·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5603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152542"/>
                </a:solidFill>
                <a:latin typeface="Montserrat"/>
              </a:rPr>
              <a:t>EVENT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337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52542"/>
                </a:solidFill>
                <a:latin typeface="Montserrat"/>
              </a:rPr>
              <a:t>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0"/>
            <a:ext cx="5333695" cy="3200400"/>
          </a:xfrm>
          <a:prstGeom prst="rect">
            <a:avLst/>
          </a:prstGeom>
          <a:solidFill>
            <a:srgbClr val="0A1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987" y="182880"/>
            <a:ext cx="864108" cy="2560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28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7BFF"/>
                </a:solidFill>
                <a:latin typeface="Arial"/>
              </a:rPr>
              <a:t>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29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1F8"/>
                </a:solidFill>
                <a:latin typeface="Montserrat"/>
              </a:rPr>
              <a:t>Организация мероприятий сегодня —
сложный и долгий процесс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11155680" cy="18288"/>
          </a:xfrm>
          <a:prstGeom prst="rect">
            <a:avLst/>
          </a:prstGeom>
          <a:solidFill>
            <a:srgbClr val="22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874519"/>
            <a:ext cx="54864" cy="676656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874519"/>
            <a:ext cx="11045952" cy="676656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29967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EF1F8"/>
                </a:solidFill>
                <a:latin typeface="Montserrat"/>
              </a:rPr>
              <a:t>Клиент не знает, с чего начать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70048"/>
            <a:ext cx="54864" cy="676656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" y="2670048"/>
            <a:ext cx="11045952" cy="676656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825496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EF1F8"/>
                </a:solidFill>
                <a:latin typeface="Montserrat"/>
              </a:rPr>
              <a:t>Площадку, ведущих, артистов, декор, фото-видео нужно искать отдельно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465576"/>
            <a:ext cx="54864" cy="676656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" y="3465576"/>
            <a:ext cx="11045952" cy="676656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21024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EF1F8"/>
                </a:solidFill>
                <a:latin typeface="Montserrat"/>
              </a:rPr>
              <a:t>Нет прозрачной сметы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261104"/>
            <a:ext cx="54864" cy="676656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" y="4261104"/>
            <a:ext cx="11045952" cy="676656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16552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EF1F8"/>
                </a:solidFill>
                <a:latin typeface="Montserrat"/>
              </a:rPr>
              <a:t>Сложно сравнить подрядчиков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56631"/>
            <a:ext cx="54864" cy="676656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" y="5056631"/>
            <a:ext cx="11045952" cy="676656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212079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EF1F8"/>
                </a:solidFill>
                <a:latin typeface="Montserrat"/>
              </a:rPr>
              <a:t>Много времени уходит на звонки и согласования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0"/>
            <a:ext cx="5333695" cy="3200400"/>
          </a:xfrm>
          <a:prstGeom prst="rect">
            <a:avLst/>
          </a:prstGeom>
          <a:solidFill>
            <a:srgbClr val="0A1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987" y="182880"/>
            <a:ext cx="864108" cy="2560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28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7BFF"/>
                </a:solidFill>
                <a:latin typeface="Arial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EF1F8"/>
                </a:solidFill>
                <a:latin typeface="Montserrat"/>
              </a:rPr>
              <a:t>EVENT AI собирает мероприятие за клиента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AA4B6"/>
                </a:solidFill>
                <a:latin typeface="Montserrat"/>
              </a:rPr>
              <a:t>Пользователь отвечает на простые вопросы в AI-чате —
система автоматически формирует: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965960"/>
            <a:ext cx="11155680" cy="18288"/>
          </a:xfrm>
          <a:prstGeom prst="rect">
            <a:avLst/>
          </a:prstGeom>
          <a:solidFill>
            <a:srgbClr val="22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79192"/>
            <a:ext cx="128016" cy="128016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148840"/>
            <a:ext cx="5212080" cy="1188720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04872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EF1F8"/>
                </a:solidFill>
                <a:latin typeface="Montserrat"/>
              </a:rPr>
              <a:t>Персональную подборку подрядчиков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2679192"/>
            <a:ext cx="128016" cy="128016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148840"/>
            <a:ext cx="5212080" cy="1188720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404872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EF1F8"/>
                </a:solidFill>
                <a:latin typeface="Montserrat"/>
              </a:rPr>
              <a:t>Предварительную смету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32504"/>
            <a:ext cx="128016" cy="128016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502152"/>
            <a:ext cx="5212080" cy="1188720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581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EF1F8"/>
                </a:solidFill>
                <a:latin typeface="Montserrat"/>
              </a:rPr>
              <a:t>Сценарий мероприятия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032504"/>
            <a:ext cx="128016" cy="128016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3502152"/>
            <a:ext cx="5212080" cy="1188720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7581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EF1F8"/>
                </a:solidFill>
                <a:latin typeface="Montserrat"/>
              </a:rPr>
              <a:t>Тайминг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385816"/>
            <a:ext cx="128016" cy="128016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855464"/>
            <a:ext cx="5212080" cy="1188720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111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EF1F8"/>
                </a:solidFill>
                <a:latin typeface="Montserrat"/>
              </a:rPr>
              <a:t>Пригласительные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5385816"/>
            <a:ext cx="128016" cy="128016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4855464"/>
            <a:ext cx="5212080" cy="1188720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5111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EF1F8"/>
                </a:solidFill>
                <a:latin typeface="Montserrat"/>
              </a:rPr>
              <a:t>Бронирование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0"/>
            <a:ext cx="5333695" cy="3200400"/>
          </a:xfrm>
          <a:prstGeom prst="rect">
            <a:avLst/>
          </a:prstGeom>
          <a:solidFill>
            <a:srgbClr val="0A1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987" y="182880"/>
            <a:ext cx="864108" cy="2560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28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7BFF"/>
                </a:solidFill>
                <a:latin typeface="Arial"/>
              </a:rPr>
              <a:t>КАК ЭТО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EF1F8"/>
                </a:solidFill>
                <a:latin typeface="Montserrat"/>
              </a:rPr>
              <a:t>От идеи до бронирования —
в одном приложении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11155680" cy="18288"/>
          </a:xfrm>
          <a:prstGeom prst="rect">
            <a:avLst/>
          </a:prstGeom>
          <a:solidFill>
            <a:srgbClr val="22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1965960" cy="3200400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93292" y="1938528"/>
            <a:ext cx="585216" cy="585216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93292" y="1938528"/>
            <a:ext cx="585216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697480"/>
            <a:ext cx="1636776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EEF1F8"/>
                </a:solidFill>
                <a:latin typeface="Montserrat"/>
              </a:rPr>
              <a:t>Пользователь выбирает тип мероприятия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3154679"/>
            <a:ext cx="2011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C7BFF"/>
                </a:solidFill>
                <a:latin typeface="Arial"/>
              </a:rPr>
              <a:t>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737360"/>
            <a:ext cx="1965960" cy="3200400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3572" y="1938528"/>
            <a:ext cx="585216" cy="585216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3572" y="1938528"/>
            <a:ext cx="585216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7792" y="2697480"/>
            <a:ext cx="1636776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EEF1F8"/>
                </a:solidFill>
                <a:latin typeface="Montserrat"/>
              </a:rPr>
              <a:t>AI задаёт уточняющие вопросы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154679"/>
            <a:ext cx="2011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C7BFF"/>
                </a:solidFill>
                <a:latin typeface="Arial"/>
              </a:rPr>
              <a:t>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79" y="1737360"/>
            <a:ext cx="1965960" cy="3200400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73851" y="1938528"/>
            <a:ext cx="585216" cy="585216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73851" y="1938528"/>
            <a:ext cx="585216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8071" y="2697480"/>
            <a:ext cx="1636776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EEF1F8"/>
                </a:solidFill>
                <a:latin typeface="Montserrat"/>
              </a:rPr>
              <a:t>Система формирует персональную подборку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59" y="3154679"/>
            <a:ext cx="2011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C7BFF"/>
                </a:solidFill>
                <a:latin typeface="Arial"/>
              </a:rPr>
              <a:t>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59" y="1737360"/>
            <a:ext cx="1965960" cy="3200400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14131" y="1938528"/>
            <a:ext cx="585216" cy="585216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14131" y="1938528"/>
            <a:ext cx="585216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88352" y="2697480"/>
            <a:ext cx="1636776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EEF1F8"/>
                </a:solidFill>
                <a:latin typeface="Montserrat"/>
              </a:rPr>
              <a:t>Клиент выбирает понравившиеся проекты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154679"/>
            <a:ext cx="2011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C7BFF"/>
                </a:solidFill>
                <a:latin typeface="Arial"/>
              </a:rPr>
              <a:t>&gt;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4040" y="1737360"/>
            <a:ext cx="1965960" cy="3200400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154411" y="1938528"/>
            <a:ext cx="585216" cy="585216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54411" y="1938528"/>
            <a:ext cx="585216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28632" y="2697480"/>
            <a:ext cx="1636776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EEF1F8"/>
                </a:solidFill>
                <a:latin typeface="Montserrat"/>
              </a:rPr>
              <a:t>Платформа помогает забронировать услуги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0"/>
            <a:ext cx="5333695" cy="3200400"/>
          </a:xfrm>
          <a:prstGeom prst="rect">
            <a:avLst/>
          </a:prstGeom>
          <a:solidFill>
            <a:srgbClr val="0A1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987" y="182880"/>
            <a:ext cx="864108" cy="2560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28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7BFF"/>
                </a:solidFill>
                <a:latin typeface="Arial"/>
              </a:rPr>
              <a:t>МОНЕТИЗАЦИЯ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292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EEF1F8"/>
                </a:solidFill>
                <a:latin typeface="Montserrat"/>
              </a:rPr>
              <a:t>Бизнес-модель EVENT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11155680" cy="18288"/>
          </a:xfrm>
          <a:prstGeom prst="rect">
            <a:avLst/>
          </a:prstGeom>
          <a:solidFill>
            <a:srgbClr val="22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2377440" cy="502920"/>
          </a:xfrm>
          <a:prstGeom prst="rect">
            <a:avLst/>
          </a:prstGeom>
          <a:solidFill>
            <a:srgbClr val="0D1527"/>
          </a:solidFill>
          <a:ln w="9525">
            <a:solidFill>
              <a:srgbClr val="2C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EEF1F8"/>
                </a:solidFill>
                <a:latin typeface="Montserrat"/>
              </a:rPr>
              <a:t>Клиент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417320"/>
            <a:ext cx="2377440" cy="502920"/>
          </a:xfrm>
          <a:prstGeom prst="rect">
            <a:avLst/>
          </a:prstGeom>
          <a:solidFill>
            <a:srgbClr val="2C7BFF"/>
          </a:solidFill>
          <a:ln w="9525">
            <a:solidFill>
              <a:srgbClr val="2C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41732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EEF1F8"/>
                </a:solidFill>
                <a:latin typeface="Montserrat"/>
              </a:rPr>
              <a:t>Платформа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417320"/>
            <a:ext cx="2377440" cy="502920"/>
          </a:xfrm>
          <a:prstGeom prst="rect">
            <a:avLst/>
          </a:prstGeom>
          <a:solidFill>
            <a:srgbClr val="0D1527"/>
          </a:solidFill>
          <a:ln w="9525">
            <a:solidFill>
              <a:srgbClr val="2C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EEF1F8"/>
                </a:solidFill>
                <a:latin typeface="Montserrat"/>
              </a:rPr>
              <a:t>Партнёр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490472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C7BFF"/>
                </a:solidFill>
                <a:latin typeface="Arial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1490472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2C7BFF"/>
                </a:solidFill>
                <a:latin typeface="Arial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14884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2C7BFF"/>
                </a:solidFill>
                <a:latin typeface="Arial"/>
              </a:rPr>
              <a:t>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97180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AA4B6"/>
                </a:solidFill>
                <a:latin typeface="Montserrat"/>
              </a:rPr>
              <a:t>комиссия с подтверждённых заказов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21488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2C7BFF"/>
                </a:solidFill>
                <a:latin typeface="Arial"/>
              </a:rPr>
              <a:t>50 000 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9718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9AA4B6"/>
                </a:solidFill>
                <a:latin typeface="Montserrat"/>
              </a:rPr>
              <a:t>оплата бронирования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37560"/>
            <a:ext cx="11155680" cy="18288"/>
          </a:xfrm>
          <a:prstGeom prst="rect">
            <a:avLst/>
          </a:prstGeom>
          <a:solidFill>
            <a:srgbClr val="22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657600"/>
            <a:ext cx="109728" cy="109728"/>
          </a:xfrm>
          <a:prstGeom prst="rect">
            <a:avLst/>
          </a:prstGeom>
          <a:solidFill>
            <a:srgbClr val="5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52044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EEF1F8"/>
                </a:solidFill>
                <a:latin typeface="Montserrat"/>
              </a:rPr>
              <a:t>Платное продвижение партнёров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251960"/>
            <a:ext cx="109728" cy="109728"/>
          </a:xfrm>
          <a:prstGeom prst="rect">
            <a:avLst/>
          </a:prstGeom>
          <a:solidFill>
            <a:srgbClr val="5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1480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EEF1F8"/>
                </a:solidFill>
                <a:latin typeface="Montserrat"/>
              </a:rPr>
              <a:t>Премиум-размещение ресторанов, артистов и подрядчиков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846320"/>
            <a:ext cx="109728" cy="109728"/>
          </a:xfrm>
          <a:prstGeom prst="rect">
            <a:avLst/>
          </a:prstGeom>
          <a:solidFill>
            <a:srgbClr val="5AA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7091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EEF1F8"/>
                </a:solidFill>
                <a:latin typeface="Montserrat"/>
              </a:rPr>
              <a:t>B2B-пакеты для event-компаний и площадок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0"/>
            <a:ext cx="5333695" cy="3200400"/>
          </a:xfrm>
          <a:prstGeom prst="rect">
            <a:avLst/>
          </a:prstGeom>
          <a:solidFill>
            <a:srgbClr val="0A1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987" y="182880"/>
            <a:ext cx="864108" cy="2560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28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7BFF"/>
                </a:solidFill>
                <a:latin typeface="Arial"/>
              </a:rPr>
              <a:t>ПОЧЕМУ ИНТЕРЕСНО ИНВЕСТОРУ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292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EF1F8"/>
                </a:solidFill>
                <a:latin typeface="Montserrat"/>
              </a:rPr>
              <a:t>EVENT AI — масштабируемая платформа
для event-рынка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72768"/>
            <a:ext cx="11155680" cy="18288"/>
          </a:xfrm>
          <a:prstGeom prst="rect">
            <a:avLst/>
          </a:prstGeom>
          <a:solidFill>
            <a:srgbClr val="222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755648"/>
            <a:ext cx="3520440" cy="868680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50292" cy="868680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920240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EF1F8"/>
                </a:solidFill>
                <a:latin typeface="Montserrat"/>
              </a:rPr>
              <a:t>Большой рынок мероприятий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755648"/>
            <a:ext cx="3520440" cy="868680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755648"/>
            <a:ext cx="50292" cy="868680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2272" y="1920240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EF1F8"/>
                </a:solidFill>
                <a:latin typeface="Montserrat"/>
              </a:rPr>
              <a:t>Простая модель бронирования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755648"/>
            <a:ext cx="3520440" cy="868680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755648"/>
            <a:ext cx="50292" cy="868680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1920240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EF1F8"/>
                </a:solidFill>
                <a:latin typeface="Montserrat"/>
              </a:rPr>
              <a:t>AI снижает ручную работу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788920"/>
            <a:ext cx="3520440" cy="868680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788920"/>
            <a:ext cx="50292" cy="868680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2953512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EF1F8"/>
                </a:solidFill>
                <a:latin typeface="Montserrat"/>
              </a:rPr>
              <a:t>Объединяет клиентов и подрядчиков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2788920"/>
            <a:ext cx="3520440" cy="868680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2788920"/>
            <a:ext cx="50292" cy="868680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62272" y="2953512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EF1F8"/>
                </a:solidFill>
                <a:latin typeface="Montserrat"/>
              </a:rPr>
              <a:t>Масштабирование по городам и странам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2788920"/>
            <a:ext cx="3520440" cy="868680"/>
          </a:xfrm>
          <a:prstGeom prst="rect">
            <a:avLst/>
          </a:prstGeom>
          <a:solidFill>
            <a:srgbClr val="0D1527"/>
          </a:solidFill>
          <a:ln w="6350">
            <a:solidFill>
              <a:srgbClr val="222D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2440" y="2788920"/>
            <a:ext cx="50292" cy="868680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7032" y="2953512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EF1F8"/>
                </a:solidFill>
                <a:latin typeface="Montserrat"/>
              </a:rPr>
              <a:t>Готовится мобильное приложение для App Store и Play Market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858768"/>
            <a:ext cx="11155680" cy="914400"/>
          </a:xfrm>
          <a:prstGeom prst="rect">
            <a:avLst/>
          </a:prstGeom>
          <a:solidFill>
            <a:srgbClr val="2C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9959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ontserrat"/>
              </a:rPr>
              <a:t>EVENT AI превращает сложную организацию мероприятия в простой цифровой сервис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983480"/>
            <a:ext cx="3108960" cy="548640"/>
          </a:xfrm>
          <a:prstGeom prst="rect">
            <a:avLst/>
          </a:prstGeom>
          <a:solidFill>
            <a:srgbClr val="2C7BFF"/>
          </a:solidFill>
          <a:ln w="12700">
            <a:solidFill>
              <a:srgbClr val="2C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983480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INVESTMENT OPPORTUNITY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50749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C7BFF"/>
                </a:solidFill>
                <a:latin typeface="Arial"/>
              </a:rPr>
              <a:t>+7 747 253 11 38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50749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4B6"/>
                </a:solidFill>
                <a:latin typeface="Montserrat"/>
              </a:rPr>
              <a:t>eventai.kz  ·  Алматы, Казахстан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