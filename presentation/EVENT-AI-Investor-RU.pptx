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_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287" y="1371600"/>
            <a:ext cx="4389120" cy="12427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55767" y="2697480"/>
            <a:ext cx="1280160" cy="25400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907792"/>
            <a:ext cx="10820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A0FF"/>
                </a:solidFill>
                <a:latin typeface="JetBrains Mono"/>
              </a:rPr>
              <a:t>ИНВЕСТИЦИОННАЯ ПРЕЗЕНТАЦИЯ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047" y="3364992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EF1F8"/>
                </a:solidFill>
                <a:latin typeface="Space Grotesk"/>
              </a:rPr>
              <a:t>Умный AI-помощник для организации
мероприятий под ключ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0"/>
            <a:ext cx="10820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4B6"/>
                </a:solidFill>
                <a:latin typeface="Montserrat"/>
              </a:rPr>
              <a:t>Алматы  ·  Казахстан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_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168"/>
            <a:ext cx="122724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85855" y="502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4B6"/>
                </a:solidFill>
                <a:latin typeface="JetBrains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1F8"/>
                </a:solidFill>
                <a:latin typeface="Space Grotesk"/>
              </a:rPr>
              <a:t>Организация мероприятий — сложно и долго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640080" cy="12700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6335" y="2212848"/>
            <a:ext cx="3383280" cy="1508760"/>
          </a:xfrm>
          <a:prstGeom prst="rect">
            <a:avLst/>
          </a:prstGeom>
          <a:solidFill>
            <a:srgbClr val="0A0F1C">
              <a:alpha val="100000"/>
            </a:srgbClr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7503" y="2377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503" y="2761488"/>
            <a:ext cx="2980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1F8"/>
                </a:solidFill>
                <a:latin typeface="Space Grotesk"/>
              </a:rPr>
              <a:t>Не знаешь, с чего начать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4207" y="2212848"/>
            <a:ext cx="3383280" cy="1508760"/>
          </a:xfrm>
          <a:prstGeom prst="rect">
            <a:avLst/>
          </a:prstGeom>
          <a:solidFill>
            <a:srgbClr val="0A0F1C">
              <a:alpha val="100000"/>
            </a:srgbClr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375" y="2377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375" y="2761488"/>
            <a:ext cx="2980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1F8"/>
                </a:solidFill>
                <a:latin typeface="Space Grotesk"/>
              </a:rPr>
              <a:t>Площадку, ведущих, артистов
ищешь по отдельности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2079" y="2212848"/>
            <a:ext cx="3383280" cy="1508760"/>
          </a:xfrm>
          <a:prstGeom prst="rect">
            <a:avLst/>
          </a:prstGeom>
          <a:solidFill>
            <a:srgbClr val="0A0F1C">
              <a:alpha val="100000"/>
            </a:srgbClr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3247" y="2377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247" y="2761488"/>
            <a:ext cx="2980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1F8"/>
                </a:solidFill>
                <a:latin typeface="Space Grotesk"/>
              </a:rPr>
              <a:t>Нет прозрачной сметы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0271" y="3886200"/>
            <a:ext cx="3383280" cy="1508760"/>
          </a:xfrm>
          <a:prstGeom prst="rect">
            <a:avLst/>
          </a:prstGeom>
          <a:solidFill>
            <a:srgbClr val="0A0F1C">
              <a:alpha val="100000"/>
            </a:srgbClr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1439" y="40507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1439" y="4434840"/>
            <a:ext cx="2980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1F8"/>
                </a:solidFill>
                <a:latin typeface="Space Grotesk"/>
              </a:rPr>
              <a:t>Сложно сравнить
подрядчиков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8143" y="3886200"/>
            <a:ext cx="3383280" cy="1508760"/>
          </a:xfrm>
          <a:prstGeom prst="rect">
            <a:avLst/>
          </a:prstGeom>
          <a:solidFill>
            <a:srgbClr val="0A0F1C">
              <a:alpha val="100000"/>
            </a:srgbClr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9311" y="40507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4434840"/>
            <a:ext cx="2980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1F8"/>
                </a:solidFill>
                <a:latin typeface="Space Grotesk"/>
              </a:rPr>
              <a:t>Время уходит на звонки
и согласования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_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168"/>
            <a:ext cx="122724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85855" y="502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4B6"/>
                </a:solidFill>
                <a:latin typeface="JetBrains Mon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EF1F8"/>
                </a:solidFill>
                <a:latin typeface="Space Grotesk"/>
              </a:rPr>
              <a:t>EVENT AI собирает мероприятие за вас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20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4B6"/>
                </a:solidFill>
                <a:latin typeface="Montserrat"/>
              </a:rPr>
              <a:t>Ответьте на пару вопросов в AI-чате — система соберёт: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640080" cy="12700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286000"/>
            <a:ext cx="3383280" cy="1572768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" y="2487168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670048"/>
            <a:ext cx="29809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1F8"/>
                </a:solidFill>
                <a:latin typeface="Space Grotesk"/>
              </a:rPr>
              <a:t>Подборку
подрядчиков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286000"/>
            <a:ext cx="3383280" cy="1572768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2487168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670048"/>
            <a:ext cx="29809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1F8"/>
                </a:solidFill>
                <a:latin typeface="Space Grotesk"/>
              </a:rPr>
              <a:t>Смету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286000"/>
            <a:ext cx="3383280" cy="1572768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9288" y="2487168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2670048"/>
            <a:ext cx="29809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1F8"/>
                </a:solidFill>
                <a:latin typeface="Space Grotesk"/>
              </a:rPr>
              <a:t>Сценарий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41648"/>
            <a:ext cx="3383280" cy="1572768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" y="4242816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425696"/>
            <a:ext cx="29809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1F8"/>
                </a:solidFill>
                <a:latin typeface="Space Grotesk"/>
              </a:rPr>
              <a:t>Тайминг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4041648"/>
            <a:ext cx="3383280" cy="1572768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3128" y="4242816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4425696"/>
            <a:ext cx="29809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1F8"/>
                </a:solidFill>
                <a:latin typeface="Space Grotesk"/>
              </a:rPr>
              <a:t>Пригласительные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4041648"/>
            <a:ext cx="3383280" cy="1572768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9288" y="4242816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9288" y="4425696"/>
            <a:ext cx="29809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1F8"/>
                </a:solidFill>
                <a:latin typeface="Space Grotesk"/>
              </a:rPr>
              <a:t>Бронирование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_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168"/>
            <a:ext cx="122724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85855" y="502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4B6"/>
                </a:solidFill>
                <a:latin typeface="JetBrains Mon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EF1F8"/>
                </a:solidFill>
                <a:latin typeface="Space Grotesk"/>
              </a:rPr>
              <a:t>От идеи до брони — в одном приложении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0" cy="12700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8010" y="2103120"/>
            <a:ext cx="2084831" cy="2926080"/>
          </a:xfrm>
          <a:prstGeom prst="rect">
            <a:avLst/>
          </a:prstGeom>
          <a:solidFill>
            <a:srgbClr val="0A0F1C"/>
          </a:solidFill>
          <a:ln w="12700">
            <a:solidFill>
              <a:srgbClr val="2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67817" y="2404872"/>
            <a:ext cx="585216" cy="585216"/>
          </a:xfrm>
          <a:prstGeom prst="ellipse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EF1F8"/>
                </a:solidFill>
                <a:latin typeface="JetBrain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8" y="3291840"/>
            <a:ext cx="186537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1F8"/>
                </a:solidFill>
                <a:latin typeface="Space Grotesk"/>
              </a:rPr>
              <a:t>Выбираете тип
мероприятия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5721" y="2103120"/>
            <a:ext cx="2084831" cy="2926080"/>
          </a:xfrm>
          <a:prstGeom prst="rect">
            <a:avLst/>
          </a:prstGeom>
          <a:solidFill>
            <a:srgbClr val="0A0F1C"/>
          </a:solidFill>
          <a:ln w="12700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35528" y="2404872"/>
            <a:ext cx="585216" cy="585216"/>
          </a:xfrm>
          <a:prstGeom prst="ellipse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EF1F8"/>
                </a:solidFill>
                <a:latin typeface="JetBrains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449" y="3291840"/>
            <a:ext cx="186537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1F8"/>
                </a:solidFill>
                <a:latin typeface="Space Grotesk"/>
              </a:rPr>
              <a:t>AI уточняет
детали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3432" y="2103120"/>
            <a:ext cx="2084831" cy="2926080"/>
          </a:xfrm>
          <a:prstGeom prst="rect">
            <a:avLst/>
          </a:prstGeom>
          <a:solidFill>
            <a:srgbClr val="0A0F1C"/>
          </a:solidFill>
          <a:ln w="12700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3239" y="2404872"/>
            <a:ext cx="585216" cy="585216"/>
          </a:xfrm>
          <a:prstGeom prst="ellipse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EF1F8"/>
                </a:solidFill>
                <a:latin typeface="JetBrains Mon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3160" y="3291840"/>
            <a:ext cx="186537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1F8"/>
                </a:solidFill>
                <a:latin typeface="Space Grotesk"/>
              </a:rPr>
              <a:t>Получаете
подборку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1143" y="2103120"/>
            <a:ext cx="2084831" cy="2926080"/>
          </a:xfrm>
          <a:prstGeom prst="rect">
            <a:avLst/>
          </a:prstGeom>
          <a:solidFill>
            <a:srgbClr val="0A0F1C"/>
          </a:solidFill>
          <a:ln w="12700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0950" y="2404872"/>
            <a:ext cx="585216" cy="585216"/>
          </a:xfrm>
          <a:prstGeom prst="ellipse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EF1F8"/>
                </a:solidFill>
                <a:latin typeface="JetBrai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0871" y="3291840"/>
            <a:ext cx="186537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1F8"/>
                </a:solidFill>
                <a:latin typeface="Space Grotesk"/>
              </a:rPr>
              <a:t>Выбираете
проекты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88854" y="2103120"/>
            <a:ext cx="2084831" cy="2926080"/>
          </a:xfrm>
          <a:prstGeom prst="rect">
            <a:avLst/>
          </a:prstGeom>
          <a:solidFill>
            <a:srgbClr val="0A0F1C"/>
          </a:solidFill>
          <a:ln w="12700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38661" y="2404872"/>
            <a:ext cx="585216" cy="585216"/>
          </a:xfrm>
          <a:prstGeom prst="ellipse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EF1F8"/>
                </a:solidFill>
                <a:latin typeface="JetBrai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8582" y="3291840"/>
            <a:ext cx="186537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1F8"/>
                </a:solidFill>
                <a:latin typeface="Space Grotesk"/>
              </a:rPr>
              <a:t>Бронируете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2841" y="3401568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A0FF"/>
                </a:solidFill>
                <a:latin typeface="JetBrains Mono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0552" y="3401568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A0FF"/>
                </a:solidFill>
                <a:latin typeface="JetBrains Mono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8263" y="3401568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A0FF"/>
                </a:solidFill>
                <a:latin typeface="JetBrains Mono"/>
              </a:rPr>
              <a:t>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5974" y="3401568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A0FF"/>
                </a:solidFill>
                <a:latin typeface="JetBrains Mono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accent_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168"/>
            <a:ext cx="122724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85855" y="502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4B6"/>
                </a:solidFill>
                <a:latin typeface="JetBrains Mon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МОНЕТИЗАЦИЯ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EF1F8"/>
                </a:solidFill>
                <a:latin typeface="Space Grotesk"/>
              </a:rPr>
              <a:t>Как зарабатывает платформа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0" cy="12700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46707" y="2057400"/>
            <a:ext cx="4114800" cy="1920240"/>
          </a:xfrm>
          <a:prstGeom prst="rect">
            <a:avLst/>
          </a:prstGeom>
          <a:solidFill>
            <a:srgbClr val="060C18"/>
          </a:solidFill>
          <a:ln w="12700">
            <a:solidFill>
              <a:srgbClr val="2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1299" y="2221992"/>
            <a:ext cx="37856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EF1F8"/>
                </a:solidFill>
                <a:latin typeface="JetBrains Mono"/>
              </a:rPr>
              <a:t>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1299" y="3291840"/>
            <a:ext cx="3785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AA4B6"/>
                </a:solidFill>
                <a:latin typeface="Montserrat"/>
              </a:rPr>
              <a:t>Комиссия с каждого заказа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1547" y="2057400"/>
            <a:ext cx="4114800" cy="1920240"/>
          </a:xfrm>
          <a:prstGeom prst="rect">
            <a:avLst/>
          </a:prstGeom>
          <a:solidFill>
            <a:srgbClr val="060C18"/>
          </a:solidFill>
          <a:ln w="12700">
            <a:solidFill>
              <a:srgbClr val="2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6139" y="2221992"/>
            <a:ext cx="37856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EF1F8"/>
                </a:solidFill>
                <a:latin typeface="JetBrains Mono"/>
              </a:rPr>
              <a:t>50 000 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6139" y="3291840"/>
            <a:ext cx="3785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AA4B6"/>
                </a:solidFill>
                <a:latin typeface="Montserrat"/>
              </a:rPr>
              <a:t>Стоимость бронирования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759" y="4251960"/>
            <a:ext cx="3383280" cy="868680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4351" y="4434840"/>
            <a:ext cx="30540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EF1F8"/>
                </a:solidFill>
                <a:latin typeface="Space Grotesk"/>
              </a:rPr>
              <a:t>Продвижение партнёров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4207" y="4251960"/>
            <a:ext cx="3383280" cy="868680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8799" y="4434840"/>
            <a:ext cx="30540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EF1F8"/>
                </a:solidFill>
                <a:latin typeface="Space Grotesk"/>
              </a:rPr>
              <a:t>Премиум-размещение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8655" y="4251960"/>
            <a:ext cx="3383280" cy="868680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3247" y="4434840"/>
            <a:ext cx="30540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EF1F8"/>
                </a:solidFill>
                <a:latin typeface="Space Grotesk"/>
              </a:rPr>
              <a:t>B2B-пакеты для корпоратов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35327" y="5349240"/>
            <a:ext cx="2286000" cy="59436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35327" y="5477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F1F8"/>
                </a:solidFill>
                <a:latin typeface="Space Grotesk"/>
              </a:rPr>
              <a:t>Клиент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1327" y="54589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AA0FF"/>
                </a:solidFill>
                <a:latin typeface="Montserrat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2847" y="5349240"/>
            <a:ext cx="2286000" cy="594360"/>
          </a:xfrm>
          <a:prstGeom prst="rect">
            <a:avLst/>
          </a:prstGeom>
          <a:solidFill>
            <a:srgbClr val="2C7BFF"/>
          </a:solidFill>
          <a:ln w="12700">
            <a:solidFill>
              <a:srgbClr val="2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2847" y="5477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F1F8"/>
                </a:solidFill>
                <a:latin typeface="Space Grotesk"/>
              </a:rPr>
              <a:t>Платформа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8847" y="54589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AA0FF"/>
                </a:solidFill>
                <a:latin typeface="Montserrat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0367" y="5349240"/>
            <a:ext cx="2286000" cy="594360"/>
          </a:xfrm>
          <a:prstGeom prst="rect">
            <a:avLst/>
          </a:prstGeom>
          <a:solidFill>
            <a:srgbClr val="0C1220"/>
          </a:solidFill>
          <a:ln w="12700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0367" y="5477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F1F8"/>
                </a:solidFill>
                <a:latin typeface="Space Grotesk"/>
              </a:rPr>
              <a:t>Партнёр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accent_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168"/>
            <a:ext cx="122724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85855" y="502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4B6"/>
                </a:solidFill>
                <a:latin typeface="JetBrains Mon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A0FF"/>
                </a:solidFill>
                <a:latin typeface="JetBrains Mono"/>
              </a:rPr>
              <a:t>ПОЧЕМУ СЕЙЧАС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EF1F8"/>
                </a:solidFill>
                <a:latin typeface="Space Grotesk"/>
              </a:rPr>
              <a:t>Масштабируемая платформа event-рынка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0" cy="12700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3383280" cy="1261872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258568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441448"/>
            <a:ext cx="29809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F1F8"/>
                </a:solidFill>
                <a:latin typeface="Space Grotesk"/>
              </a:rPr>
              <a:t>Большой и растущий рынок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057400"/>
            <a:ext cx="3383280" cy="1261872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2258568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441448"/>
            <a:ext cx="29809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F1F8"/>
                </a:solidFill>
                <a:latin typeface="Space Grotesk"/>
              </a:rPr>
              <a:t>Простая модель бронирования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057400"/>
            <a:ext cx="3383280" cy="1261872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9288" y="2258568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2441448"/>
            <a:ext cx="29809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F1F8"/>
                </a:solidFill>
                <a:latin typeface="Space Grotesk"/>
              </a:rPr>
              <a:t>AI снижает ручную работу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2152"/>
            <a:ext cx="3383280" cy="1261872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" y="3703320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86200"/>
            <a:ext cx="29809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F1F8"/>
                </a:solidFill>
                <a:latin typeface="Space Grotesk"/>
              </a:rPr>
              <a:t>Объединяет клиентов и подрядчиков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502152"/>
            <a:ext cx="3383280" cy="1261872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53128" y="3703320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3886200"/>
            <a:ext cx="29809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F1F8"/>
                </a:solidFill>
                <a:latin typeface="Space Grotesk"/>
              </a:rPr>
              <a:t>Масштаб по городам и странам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3502152"/>
            <a:ext cx="3383280" cy="1261872"/>
          </a:xfrm>
          <a:prstGeom prst="rect">
            <a:avLst/>
          </a:prstGeom>
          <a:solidFill>
            <a:srgbClr val="0A0F1C"/>
          </a:solidFill>
          <a:ln w="9525">
            <a:solidFill>
              <a:srgbClr val="1A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19288" y="3703320"/>
            <a:ext cx="73152" cy="73152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3886200"/>
            <a:ext cx="29809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F1F8"/>
                </a:solidFill>
                <a:latin typeface="Space Grotesk"/>
              </a:rPr>
              <a:t>Моб. приложение — App Store / Play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074920"/>
            <a:ext cx="10820095" cy="594360"/>
          </a:xfrm>
          <a:prstGeom prst="rect">
            <a:avLst/>
          </a:prstGeom>
          <a:solidFill>
            <a:srgbClr val="2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166360"/>
            <a:ext cx="10271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1F8"/>
                </a:solidFill>
                <a:latin typeface="Space Grotesk"/>
              </a:rPr>
              <a:t>Сложная организация мероприятия → простой цифровой сервис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870448"/>
            <a:ext cx="2926080" cy="502920"/>
          </a:xfrm>
          <a:prstGeom prst="rect">
            <a:avLst/>
          </a:prstGeom>
          <a:solidFill>
            <a:srgbClr val="060C18"/>
          </a:solidFill>
          <a:ln w="12700">
            <a:solidFill>
              <a:srgbClr val="2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618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A0FF"/>
                </a:solidFill>
                <a:latin typeface="JetBrains Mono"/>
              </a:rPr>
              <a:t>⬡  INVESTMENT OPPORTUNITY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6975" y="5943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EEF1F8"/>
                </a:solidFill>
                <a:latin typeface="JetBrains Mono"/>
              </a:rPr>
              <a:t>+7 747 253 11 38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